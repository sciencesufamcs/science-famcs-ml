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8A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3886199" y="673099"/>
            <a:ext cx="4937761" cy="125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Машинное обучение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3886199" y="2091903"/>
            <a:ext cx="4937761" cy="982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30000"/>
              </a:lnSpc>
              <a:defRPr b="1" sz="2800">
                <a:solidFill>
                  <a:srgbClr val="FFFFFF"/>
                </a:solidFill>
              </a:defRPr>
            </a:pPr>
            <a:r>
              <a:t>KNN — метод </a:t>
            </a:r>
          </a:p>
          <a:p>
            <a:pPr algn="ctr">
              <a:lnSpc>
                <a:spcPct val="130000"/>
              </a:lnSpc>
              <a:defRPr b="1" sz="2800">
                <a:solidFill>
                  <a:srgbClr val="FFFFFF"/>
                </a:solidFill>
              </a:defRPr>
            </a:pPr>
            <a:r>
              <a:t>k-ближайших соседей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3886199" y="3556352"/>
            <a:ext cx="493776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</a:defRPr>
            </a:lvl1pPr>
          </a:lstStyle>
          <a:p>
            <a:pPr/>
            <a:r>
              <a:t>Докладчик: Артем Лебедевич</a:t>
            </a:r>
          </a:p>
        </p:txBody>
      </p:sp>
      <p:pic>
        <p:nvPicPr>
          <p:cNvPr id="23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9396" y="1378440"/>
            <a:ext cx="2386620" cy="23866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E8A83D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Что рассмотрим сегодня?</a:t>
            </a:r>
          </a:p>
        </p:txBody>
      </p:sp>
      <p:sp>
        <p:nvSpPr>
          <p:cNvPr id="27" name="Text 2"/>
          <p:cNvSpPr txBox="1"/>
          <p:nvPr/>
        </p:nvSpPr>
        <p:spPr>
          <a:xfrm>
            <a:off x="1417319" y="1757243"/>
            <a:ext cx="7406642" cy="2611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Постановка задачи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Алгоритм поиска ближайших соседей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Переобучение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Выбор метрики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Взвешенный поиск соседей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Ядерная регрессия (Надарая–Ватсон)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Поиск соседей: k-d-деревья, Annoy, HNSW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Плюсы, минусы и применение kNN</a:t>
            </a:r>
          </a:p>
        </p:txBody>
      </p:sp>
      <p:pic>
        <p:nvPicPr>
          <p:cNvPr id="28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5211" y="-9225"/>
            <a:ext cx="1201421" cy="12014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Метрические методы</a:t>
            </a:r>
          </a:p>
        </p:txBody>
      </p:sp>
      <p:sp>
        <p:nvSpPr>
          <p:cNvPr id="33" name="Text 2"/>
          <p:cNvSpPr txBox="1"/>
          <p:nvPr/>
        </p:nvSpPr>
        <p:spPr>
          <a:xfrm>
            <a:off x="1417319" y="1120719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600">
                <a:solidFill>
                  <a:srgbClr val="555555"/>
                </a:solidFill>
              </a:defRPr>
            </a:lvl1pPr>
          </a:lstStyle>
          <a:p>
            <a:pPr/>
            <a:r>
              <a:t>Сперва пару слов про метрические методы.</a:t>
            </a:r>
          </a:p>
        </p:txBody>
      </p:sp>
      <p:sp>
        <p:nvSpPr>
          <p:cNvPr id="34" name="Text 3"/>
          <p:cNvSpPr txBox="1"/>
          <p:nvPr/>
        </p:nvSpPr>
        <p:spPr>
          <a:xfrm>
            <a:off x="1417319" y="1861383"/>
            <a:ext cx="7406642" cy="281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«скажи мне, кто твой друг, и я скажу, кто ты»;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</a:t>
            </a:r>
            <a:r>
              <a:t>алгоритмы почти не имеют фазы обучения — вместо этого они запоминают всю обучающую выборку, а на этапе предсказания просто ищут объекты, похожие на целевой;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</a:t>
            </a:r>
            <a:r>
              <a:t>метрические модели являются непараметрическими, потому что они не делают явных допущений о глобальных законах, которым подчиняются данные (например, у линейной регрессии — подчинение нормальному распределению, а у линейных классификаторов — существование линейной разделяющей плоскости);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</a:t>
            </a:r>
            <a:r>
              <a:t>из прошлых пунктов ясно: алгоритм неприменим при большом количестве данных.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B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0"/>
          <p:cNvSpPr txBox="1"/>
          <p:nvPr/>
        </p:nvSpPr>
        <p:spPr>
          <a:xfrm>
            <a:off x="502919" y="1572260"/>
            <a:ext cx="8138162" cy="87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Постановка задачи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Постановка задачи</a:t>
            </a:r>
          </a:p>
        </p:txBody>
      </p:sp>
      <p:sp>
        <p:nvSpPr>
          <p:cNvPr id="42" name="Text 2"/>
          <p:cNvSpPr txBox="1"/>
          <p:nvPr/>
        </p:nvSpPr>
        <p:spPr>
          <a:xfrm>
            <a:off x="1417319" y="1162642"/>
            <a:ext cx="7406642" cy="335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Пусть задана выборка D = (X|y)ⁿᵢ₌₁, где X ⊆ X = ℝⁿˣᵐ, y ⊆ Y = {1, …, L}, то есть</a:t>
            </a:r>
          </a:p>
        </p:txBody>
      </p:sp>
      <p:sp>
        <p:nvSpPr>
          <p:cNvPr id="43" name="Shape 3"/>
          <p:cNvSpPr/>
          <p:nvPr/>
        </p:nvSpPr>
        <p:spPr>
          <a:xfrm>
            <a:off x="1828799" y="1645920"/>
            <a:ext cx="5303522" cy="1005840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4"/>
          <p:cNvSpPr txBox="1"/>
          <p:nvPr/>
        </p:nvSpPr>
        <p:spPr>
          <a:xfrm>
            <a:off x="2011680" y="1771276"/>
            <a:ext cx="4956049" cy="75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4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 = ⎡x₁₁ ... x₁ₘ  y₁⎤</a:t>
            </a:r>
          </a:p>
          <a:p>
            <a:pPr algn="ctr">
              <a:defRPr sz="14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⎢ ⋮    ⋱   ⋮    ⋮  ⎥</a:t>
            </a:r>
          </a:p>
          <a:p>
            <a:pPr algn="ctr">
              <a:defRPr sz="14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⎣xₙ₁ ... xₙₘ yₙ⎦</a:t>
            </a:r>
          </a:p>
        </p:txBody>
      </p:sp>
      <p:sp>
        <p:nvSpPr>
          <p:cNvPr id="45" name="Text 5"/>
          <p:cNvSpPr txBox="1"/>
          <p:nvPr/>
        </p:nvSpPr>
        <p:spPr>
          <a:xfrm>
            <a:off x="1417319" y="2844363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Таким образом, решается задача классификации на L классов.</a:t>
            </a:r>
          </a:p>
        </p:txBody>
      </p:sp>
      <p:sp>
        <p:nvSpPr>
          <p:cNvPr id="46" name="Text 6"/>
          <p:cNvSpPr txBox="1"/>
          <p:nvPr/>
        </p:nvSpPr>
        <p:spPr>
          <a:xfrm>
            <a:off x="1417319" y="3194883"/>
            <a:ext cx="7406642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Мы хотим определить, к какому классу относится рассматриваемый объект. Принцип ближайших соседей заключается в том, чтобы классифицировать целевой объект, исходя из того, какие классы у объектов, которые максимально похожи на него.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Постановка задачи</a:t>
            </a:r>
          </a:p>
        </p:txBody>
      </p:sp>
      <p:sp>
        <p:nvSpPr>
          <p:cNvPr id="51" name="Text 2"/>
          <p:cNvSpPr txBox="1"/>
          <p:nvPr/>
        </p:nvSpPr>
        <p:spPr>
          <a:xfrm>
            <a:off x="1417319" y="1000083"/>
            <a:ext cx="7406642" cy="843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Интуитивно степень похожести объектов в ℝ² хочется различать по расположению в пространстве и расстоянию между ними. Эту идею и использует метод k ближайших соседей.</a:t>
            </a:r>
          </a:p>
        </p:txBody>
      </p:sp>
      <p:pic>
        <p:nvPicPr>
          <p:cNvPr id="5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828800"/>
            <a:ext cx="7498081" cy="3200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B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Text 0"/>
          <p:cNvSpPr txBox="1"/>
          <p:nvPr/>
        </p:nvSpPr>
        <p:spPr>
          <a:xfrm>
            <a:off x="502919" y="1178559"/>
            <a:ext cx="8138162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Алгоритм поиска</a:t>
            </a:r>
          </a:p>
          <a:p>
            <a: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ближайших соседей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Алгоритм</a:t>
            </a:r>
          </a:p>
        </p:txBody>
      </p:sp>
      <p:sp>
        <p:nvSpPr>
          <p:cNvPr id="60" name="Text 2"/>
          <p:cNvSpPr txBox="1"/>
          <p:nvPr/>
        </p:nvSpPr>
        <p:spPr>
          <a:xfrm>
            <a:off x="1417319" y="1020403"/>
            <a:ext cx="7406642" cy="1351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Пусть в пространстве объектов X задана метрика ρ : X × X → [0; +∞). И пусть мы хотим классифицировать некоторый объект x' ∈ ℝᵐ. Для этого мы ищем k наиболее близких к нему объектов x⁽¹⁾, …, x⁽ᵏ⁾ в смысле метрики ρ в обучающей выборке X_train ⊂ X. То есть эти k объектов должны удовлетворять следующему условию: если обозначить X_k = {x⁽¹⁾, …, x⁽ᵏ⁾}, то</a:t>
            </a:r>
          </a:p>
        </p:txBody>
      </p:sp>
      <p:sp>
        <p:nvSpPr>
          <p:cNvPr id="61" name="Shape 3"/>
          <p:cNvSpPr/>
          <p:nvPr/>
        </p:nvSpPr>
        <p:spPr>
          <a:xfrm>
            <a:off x="1828800" y="2423160"/>
            <a:ext cx="5486400" cy="594361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4"/>
          <p:cNvSpPr txBox="1"/>
          <p:nvPr/>
        </p:nvSpPr>
        <p:spPr>
          <a:xfrm>
            <a:off x="2011680" y="2554180"/>
            <a:ext cx="5138929" cy="332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∀x ∈ Xₖ, ∀x̃ ∈ X\Xₖ :   ρ(x', x) ≤ ρ(x', x̃)</a:t>
            </a:r>
          </a:p>
        </p:txBody>
      </p:sp>
      <p:sp>
        <p:nvSpPr>
          <p:cNvPr id="63" name="Text 5"/>
          <p:cNvSpPr txBox="1"/>
          <p:nvPr/>
        </p:nvSpPr>
        <p:spPr>
          <a:xfrm>
            <a:off x="1417319" y="3147131"/>
            <a:ext cx="740664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Обозначим для объектов x⁽ʲ⁾ истинные метки классов через y⁽ʲ⁾, j = 1, …, k. Тогда класс объекта x' формально определяется как</a:t>
            </a:r>
          </a:p>
        </p:txBody>
      </p:sp>
      <p:sp>
        <p:nvSpPr>
          <p:cNvPr id="64" name="Shape 6"/>
          <p:cNvSpPr/>
          <p:nvPr/>
        </p:nvSpPr>
        <p:spPr>
          <a:xfrm>
            <a:off x="2286000" y="3822191"/>
            <a:ext cx="4572000" cy="594361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7"/>
          <p:cNvSpPr txBox="1"/>
          <p:nvPr/>
        </p:nvSpPr>
        <p:spPr>
          <a:xfrm>
            <a:off x="2468880" y="3953212"/>
            <a:ext cx="4224529" cy="332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f(x') = argmax  Σⱼ₌₁ᵏ  [y⁽ʲ⁾ = y]</a:t>
            </a:r>
          </a:p>
        </p:txBody>
      </p:sp>
      <p:sp>
        <p:nvSpPr>
          <p:cNvPr id="66" name="Text 8"/>
          <p:cNvSpPr txBox="1"/>
          <p:nvPr/>
        </p:nvSpPr>
        <p:spPr>
          <a:xfrm>
            <a:off x="1417319" y="4500180"/>
            <a:ext cx="7406642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555555"/>
                </a:solidFill>
              </a:defRPr>
            </a:lvl1pPr>
          </a:lstStyle>
          <a:p>
            <a:pPr/>
            <a:r>
              <a:t>то есть для каждой метки класса 1, …, L количество соседей для x' с конкретной меткой y считается путём суммирования всех индикаторов события {метка соседа равна y}.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Визуализация для 2 классов</a:t>
            </a:r>
          </a:p>
        </p:txBody>
      </p:sp>
      <p:grpSp>
        <p:nvGrpSpPr>
          <p:cNvPr id="73" name="Image 1"/>
          <p:cNvGrpSpPr/>
          <p:nvPr/>
        </p:nvGrpSpPr>
        <p:grpSpPr>
          <a:xfrm>
            <a:off x="1168400" y="848360"/>
            <a:ext cx="7904481" cy="4422141"/>
            <a:chOff x="0" y="0"/>
            <a:chExt cx="7904480" cy="4422140"/>
          </a:xfrm>
        </p:grpSpPr>
        <p:pic>
          <p:nvPicPr>
            <p:cNvPr id="72" name="Image 1" descr="Image 1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203200" y="203200"/>
              <a:ext cx="7498081" cy="397764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71" name="Image 1" descr="Image 1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7904481" cy="4422141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7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Визуализация для 2 классов</a:t>
            </a:r>
          </a:p>
        </p:txBody>
      </p:sp>
      <p:pic>
        <p:nvPicPr>
          <p:cNvPr id="7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7498081" cy="3977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8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Эвристика и вероятности</a:t>
            </a:r>
          </a:p>
        </p:txBody>
      </p:sp>
      <p:sp>
        <p:nvSpPr>
          <p:cNvPr id="83" name="Text 2"/>
          <p:cNvSpPr txBox="1"/>
          <p:nvPr/>
        </p:nvSpPr>
        <p:spPr>
          <a:xfrm>
            <a:off x="1417319" y="1098875"/>
            <a:ext cx="740664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В качестве эвристики в своё время выяснили, что для классов можно также рассчитать вероятности классов</a:t>
            </a:r>
          </a:p>
        </p:txBody>
      </p:sp>
      <p:sp>
        <p:nvSpPr>
          <p:cNvPr id="84" name="Shape 3"/>
          <p:cNvSpPr/>
          <p:nvPr/>
        </p:nvSpPr>
        <p:spPr>
          <a:xfrm>
            <a:off x="1828800" y="1828800"/>
            <a:ext cx="5669280" cy="685800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4"/>
          <p:cNvSpPr txBox="1"/>
          <p:nvPr/>
        </p:nvSpPr>
        <p:spPr>
          <a:xfrm>
            <a:off x="2011679" y="1884481"/>
            <a:ext cx="5321810" cy="574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P(y' = y) = Σⱼ₌₁ᵏ [y⁽ʲ⁾ = y] / k,    ∀y ∈ 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B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ext 0"/>
          <p:cNvSpPr txBox="1"/>
          <p:nvPr/>
        </p:nvSpPr>
        <p:spPr>
          <a:xfrm>
            <a:off x="502919" y="1572260"/>
            <a:ext cx="8138162" cy="87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Переобучение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9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Проблема переобучения</a:t>
            </a:r>
          </a:p>
        </p:txBody>
      </p:sp>
      <p:sp>
        <p:nvSpPr>
          <p:cNvPr id="93" name="Text 2"/>
          <p:cNvSpPr txBox="1"/>
          <p:nvPr/>
        </p:nvSpPr>
        <p:spPr>
          <a:xfrm>
            <a:off x="1417319" y="1335095"/>
            <a:ext cx="7406642" cy="13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Несмотря на то что формально фаза обучения отсутствует, алгоритм может легко переобучиться. Например, при задании k = 1 или k = 2 границы классов оказываются довольно сложными. Происходит это из-за того, что параметрами алгоритма можно считать всю обучающую выборку, довольно большую по размеру. Из-за этого алгоритму легко подстроиться под конкретные данные.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9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Визуализация переобучения</a:t>
            </a:r>
          </a:p>
        </p:txBody>
      </p:sp>
      <p:pic>
        <p:nvPicPr>
          <p:cNvPr id="9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7498081" cy="3520441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 2"/>
          <p:cNvSpPr txBox="1"/>
          <p:nvPr/>
        </p:nvSpPr>
        <p:spPr>
          <a:xfrm>
            <a:off x="1417319" y="4597594"/>
            <a:ext cx="7406642" cy="506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500">
                <a:solidFill>
                  <a:srgbClr val="555555"/>
                </a:solidFill>
              </a:defRPr>
            </a:lvl1pPr>
          </a:lstStyle>
          <a:p>
            <a:pPr/>
            <a:r>
              <a:t>Здесь цветные области — это то, что предсказала модель, а цвета точек — реальные метки классов.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1"/>
          <p:cNvSpPr txBox="1"/>
          <p:nvPr/>
        </p:nvSpPr>
        <p:spPr>
          <a:xfrm>
            <a:off x="1417319" y="-13208"/>
            <a:ext cx="7406642" cy="113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Выбор оптимального k: кросс-валидация</a:t>
            </a:r>
          </a:p>
        </p:txBody>
      </p:sp>
      <p:pic>
        <p:nvPicPr>
          <p:cNvPr id="10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7498081" cy="3977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B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0"/>
          <p:cNvSpPr txBox="1"/>
          <p:nvPr/>
        </p:nvSpPr>
        <p:spPr>
          <a:xfrm>
            <a:off x="502919" y="1572260"/>
            <a:ext cx="8138162" cy="87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Выбор метрики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Метрика — гиперпараметр</a:t>
            </a:r>
          </a:p>
        </p:txBody>
      </p:sp>
      <p:sp>
        <p:nvSpPr>
          <p:cNvPr id="112" name="Text 2"/>
          <p:cNvSpPr txBox="1"/>
          <p:nvPr/>
        </p:nvSpPr>
        <p:spPr>
          <a:xfrm>
            <a:off x="1417319" y="936315"/>
            <a:ext cx="7406642" cy="1062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В данной модели k — это гиперпараметр. Какой ещё есть гиперпараметр? Вспомним, что мы не ограничивались использованием конкретной метрики ρ. Следовательно, её можно задавать самостоятельно. Наиболее часто используемыми являются</a:t>
            </a:r>
          </a:p>
        </p:txBody>
      </p:sp>
      <p:sp>
        <p:nvSpPr>
          <p:cNvPr id="113" name="Text 3"/>
          <p:cNvSpPr txBox="1"/>
          <p:nvPr/>
        </p:nvSpPr>
        <p:spPr>
          <a:xfrm>
            <a:off x="1417319" y="1993971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spcBef>
                <a:spcPts val="600"/>
              </a:spcBef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евклидова метрика (самая частая)</a:t>
            </a:r>
          </a:p>
        </p:txBody>
      </p:sp>
      <p:sp>
        <p:nvSpPr>
          <p:cNvPr id="114" name="Shape 4"/>
          <p:cNvSpPr/>
          <p:nvPr/>
        </p:nvSpPr>
        <p:spPr>
          <a:xfrm>
            <a:off x="2743200" y="2423160"/>
            <a:ext cx="3657600" cy="566929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5"/>
          <p:cNvSpPr txBox="1"/>
          <p:nvPr/>
        </p:nvSpPr>
        <p:spPr>
          <a:xfrm>
            <a:off x="2926080" y="2546604"/>
            <a:ext cx="331012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ρ(x, y) = √Σ(xᵢ − yᵢ)²</a:t>
            </a:r>
          </a:p>
        </p:txBody>
      </p:sp>
      <p:sp>
        <p:nvSpPr>
          <p:cNvPr id="116" name="Text 6"/>
          <p:cNvSpPr txBox="1"/>
          <p:nvPr/>
        </p:nvSpPr>
        <p:spPr>
          <a:xfrm>
            <a:off x="1417319" y="3132399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spcBef>
                <a:spcPts val="600"/>
              </a:spcBef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манхэттенская метрика</a:t>
            </a:r>
          </a:p>
        </p:txBody>
      </p:sp>
      <p:sp>
        <p:nvSpPr>
          <p:cNvPr id="117" name="Shape 7"/>
          <p:cNvSpPr/>
          <p:nvPr/>
        </p:nvSpPr>
        <p:spPr>
          <a:xfrm>
            <a:off x="2743200" y="3547871"/>
            <a:ext cx="3657600" cy="548641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8"/>
          <p:cNvSpPr txBox="1"/>
          <p:nvPr/>
        </p:nvSpPr>
        <p:spPr>
          <a:xfrm>
            <a:off x="2926080" y="3662171"/>
            <a:ext cx="3310129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ρ(x, y) = Σ|xᵢ − yᵢ|</a:t>
            </a:r>
          </a:p>
        </p:txBody>
      </p:sp>
      <p:sp>
        <p:nvSpPr>
          <p:cNvPr id="119" name="Text 9"/>
          <p:cNvSpPr txBox="1"/>
          <p:nvPr/>
        </p:nvSpPr>
        <p:spPr>
          <a:xfrm>
            <a:off x="1691640" y="4148399"/>
            <a:ext cx="713232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она часто используется в высокоразмерных пространствах из-за лучшей устойчивости к выбросам;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Метрика — гиперпараметр</a:t>
            </a:r>
          </a:p>
        </p:txBody>
      </p:sp>
      <p:sp>
        <p:nvSpPr>
          <p:cNvPr id="124" name="Text 2"/>
          <p:cNvSpPr txBox="1"/>
          <p:nvPr/>
        </p:nvSpPr>
        <p:spPr>
          <a:xfrm>
            <a:off x="1417319" y="1093287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spcBef>
                <a:spcPts val="600"/>
              </a:spcBef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метрика Минковского (обобщение евклидовой и манхэттенской)</a:t>
            </a:r>
          </a:p>
        </p:txBody>
      </p:sp>
      <p:sp>
        <p:nvSpPr>
          <p:cNvPr id="125" name="Shape 3"/>
          <p:cNvSpPr/>
          <p:nvPr/>
        </p:nvSpPr>
        <p:spPr>
          <a:xfrm>
            <a:off x="2743200" y="1508760"/>
            <a:ext cx="4754880" cy="566929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4"/>
          <p:cNvSpPr txBox="1"/>
          <p:nvPr/>
        </p:nvSpPr>
        <p:spPr>
          <a:xfrm>
            <a:off x="2926080" y="1632204"/>
            <a:ext cx="4156365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ρ(x, y) = (Σ|xᵢ − yᵢᵖ)^(1/p)</a:t>
            </a:r>
          </a:p>
        </p:txBody>
      </p:sp>
      <p:sp>
        <p:nvSpPr>
          <p:cNvPr id="127" name="Text 5"/>
          <p:cNvSpPr txBox="1"/>
          <p:nvPr/>
        </p:nvSpPr>
        <p:spPr>
          <a:xfrm>
            <a:off x="1417319" y="2254575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spcBef>
                <a:spcPts val="600"/>
              </a:spcBef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косинусное расстояние</a:t>
            </a:r>
          </a:p>
        </p:txBody>
      </p:sp>
      <p:sp>
        <p:nvSpPr>
          <p:cNvPr id="128" name="Shape 6"/>
          <p:cNvSpPr/>
          <p:nvPr/>
        </p:nvSpPr>
        <p:spPr>
          <a:xfrm>
            <a:off x="2560320" y="2670048"/>
            <a:ext cx="4887885" cy="566929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7"/>
          <p:cNvSpPr txBox="1"/>
          <p:nvPr/>
        </p:nvSpPr>
        <p:spPr>
          <a:xfrm>
            <a:off x="2743199" y="2777815"/>
            <a:ext cx="4522126" cy="351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ρ(x, y) = 1 − (x, y) / (‖x‖ · ‖y‖)</a:t>
            </a:r>
          </a:p>
        </p:txBody>
      </p:sp>
      <p:sp>
        <p:nvSpPr>
          <p:cNvPr id="130" name="Text 8"/>
          <p:cNvSpPr txBox="1"/>
          <p:nvPr/>
        </p:nvSpPr>
        <p:spPr>
          <a:xfrm>
            <a:off x="1691640" y="3325439"/>
            <a:ext cx="713232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она применяется в задачах, связанных с текстами, поскольку там не важна норма векторного признака.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1"/>
          <p:cNvSpPr txBox="1"/>
          <p:nvPr/>
        </p:nvSpPr>
        <p:spPr>
          <a:xfrm>
            <a:off x="1417319" y="-13208"/>
            <a:ext cx="7406642" cy="113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Единичные шары разных метрик</a:t>
            </a:r>
          </a:p>
        </p:txBody>
      </p:sp>
      <p:pic>
        <p:nvPicPr>
          <p:cNvPr id="13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7498081" cy="3977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Косинусное расстояние</a:t>
            </a:r>
          </a:p>
        </p:txBody>
      </p:sp>
      <p:pic>
        <p:nvPicPr>
          <p:cNvPr id="14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7498081" cy="352044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hape 2"/>
          <p:cNvSpPr/>
          <p:nvPr/>
        </p:nvSpPr>
        <p:spPr>
          <a:xfrm>
            <a:off x="1828800" y="4663440"/>
            <a:ext cx="5486400" cy="411481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3"/>
          <p:cNvSpPr txBox="1"/>
          <p:nvPr/>
        </p:nvSpPr>
        <p:spPr>
          <a:xfrm>
            <a:off x="2011680" y="4699622"/>
            <a:ext cx="5138929" cy="339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ρ(x, y) = 1 − (x · y) / (‖x‖ · ‖y‖)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B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Text 0"/>
          <p:cNvSpPr txBox="1"/>
          <p:nvPr/>
        </p:nvSpPr>
        <p:spPr>
          <a:xfrm>
            <a:off x="502919" y="1178559"/>
            <a:ext cx="8138162" cy="166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Взвешенный поиск</a:t>
            </a:r>
          </a:p>
          <a:p>
            <a: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соседей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Варианты взвешивания</a:t>
            </a:r>
          </a:p>
        </p:txBody>
      </p:sp>
      <p:sp>
        <p:nvSpPr>
          <p:cNvPr id="150" name="Text 2"/>
          <p:cNvSpPr txBox="1"/>
          <p:nvPr/>
        </p:nvSpPr>
        <p:spPr>
          <a:xfrm>
            <a:off x="1417319" y="1098875"/>
            <a:ext cx="7406642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Пусть мы также хотим учитывать расстояния до ближайших соседей. Есть два способа это сделать:</a:t>
            </a:r>
          </a:p>
        </p:txBody>
      </p:sp>
      <p:sp>
        <p:nvSpPr>
          <p:cNvPr id="151" name="Text 3"/>
          <p:cNvSpPr txBox="1"/>
          <p:nvPr/>
        </p:nvSpPr>
        <p:spPr>
          <a:xfrm>
            <a:off x="1417319" y="1711522"/>
            <a:ext cx="740664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1.  назначить индикаторам веса, которые тем больше, чем ближе объект к целевому</a:t>
            </a:r>
          </a:p>
        </p:txBody>
      </p:sp>
      <p:sp>
        <p:nvSpPr>
          <p:cNvPr id="152" name="Shape 4"/>
          <p:cNvSpPr/>
          <p:nvPr/>
        </p:nvSpPr>
        <p:spPr>
          <a:xfrm>
            <a:off x="2286000" y="2304288"/>
            <a:ext cx="6134609" cy="594361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5"/>
          <p:cNvSpPr txBox="1"/>
          <p:nvPr/>
        </p:nvSpPr>
        <p:spPr>
          <a:xfrm>
            <a:off x="2468880" y="2435308"/>
            <a:ext cx="5303520" cy="332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f(x') = argmax  Σⱼ₌₁ᵏ  wⱼ · [y⁽ʲ⁾ = y]</a:t>
            </a:r>
          </a:p>
        </p:txBody>
      </p:sp>
      <p:sp>
        <p:nvSpPr>
          <p:cNvPr id="154" name="Text 6"/>
          <p:cNvSpPr txBox="1"/>
          <p:nvPr/>
        </p:nvSpPr>
        <p:spPr>
          <a:xfrm>
            <a:off x="1691640" y="2950535"/>
            <a:ext cx="713232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где wᵢ — это затухающий весовой коэффициент; чаще всего берутся следующие веса</a:t>
            </a:r>
          </a:p>
        </p:txBody>
      </p:sp>
      <p:sp>
        <p:nvSpPr>
          <p:cNvPr id="155" name="Shape 7"/>
          <p:cNvSpPr/>
          <p:nvPr/>
        </p:nvSpPr>
        <p:spPr>
          <a:xfrm>
            <a:off x="1325879" y="3554547"/>
            <a:ext cx="7766508" cy="566929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8"/>
          <p:cNvSpPr txBox="1"/>
          <p:nvPr/>
        </p:nvSpPr>
        <p:spPr>
          <a:xfrm>
            <a:off x="1290810" y="3678285"/>
            <a:ext cx="7933981" cy="30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wⱼ = 1/ρ(x', x⁽ʲ⁾),   или   wⱼ = (k+1−j)/k,   или   wⱼ = qʲ,  0 &lt; q &lt; 1</a:t>
            </a:r>
          </a:p>
        </p:txBody>
      </p:sp>
      <p:sp>
        <p:nvSpPr>
          <p:cNvPr id="157" name="Text 9"/>
          <p:cNvSpPr txBox="1"/>
          <p:nvPr/>
        </p:nvSpPr>
        <p:spPr>
          <a:xfrm>
            <a:off x="1417319" y="4208851"/>
            <a:ext cx="7406642" cy="808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2.  представить веса как некоторую функцию от расстояния — ядерная функция (kernel function); с помощью функции ядра также можно решать задачи регрессии через kNN.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6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Ядерные функции</a:t>
            </a:r>
          </a:p>
        </p:txBody>
      </p:sp>
      <p:pic>
        <p:nvPicPr>
          <p:cNvPr id="16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7498081" cy="3977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B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0"/>
          <p:cNvSpPr txBox="1"/>
          <p:nvPr/>
        </p:nvSpPr>
        <p:spPr>
          <a:xfrm>
            <a:off x="502919" y="1572260"/>
            <a:ext cx="8138162" cy="87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Ядерная регрессия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Text 1"/>
          <p:cNvSpPr txBox="1"/>
          <p:nvPr/>
        </p:nvSpPr>
        <p:spPr>
          <a:xfrm>
            <a:off x="1417319" y="-13208"/>
            <a:ext cx="7406642" cy="113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Ядерная регрессия: формула Надарая–Ватсона</a:t>
            </a:r>
          </a:p>
        </p:txBody>
      </p:sp>
      <p:pic>
        <p:nvPicPr>
          <p:cNvPr id="17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7498081" cy="3337560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Shape 2"/>
          <p:cNvSpPr/>
          <p:nvPr/>
        </p:nvSpPr>
        <p:spPr>
          <a:xfrm>
            <a:off x="1645919" y="4480559"/>
            <a:ext cx="5852162" cy="594361"/>
          </a:xfrm>
          <a:prstGeom prst="rect">
            <a:avLst/>
          </a:prstGeom>
          <a:solidFill>
            <a:srgbClr val="FAF8F2"/>
          </a:solidFill>
          <a:ln w="1016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3"/>
          <p:cNvSpPr txBox="1"/>
          <p:nvPr/>
        </p:nvSpPr>
        <p:spPr>
          <a:xfrm>
            <a:off x="1828799" y="4630419"/>
            <a:ext cx="550469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ŷ(x) = Σᵢ K((x−xᵢ)/h) · yᵢ  /  Σᵢ K((x−xᵢ)/h)</a:t>
            </a:r>
          </a:p>
        </p:txBody>
      </p:sp>
      <p:sp>
        <p:nvSpPr>
          <p:cNvPr id="173" name="Text 4"/>
          <p:cNvSpPr txBox="1"/>
          <p:nvPr/>
        </p:nvSpPr>
        <p:spPr>
          <a:xfrm>
            <a:off x="1417319" y="5140260"/>
            <a:ext cx="740664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555555"/>
                </a:solidFill>
              </a:defRPr>
            </a:lvl1pPr>
          </a:lstStyle>
          <a:p>
            <a:pPr/>
            <a:r>
              <a:t>h — ширина окна (гиперпараметр)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7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kNN-регрессия: k=3 vs k=10</a:t>
            </a:r>
          </a:p>
        </p:txBody>
      </p:sp>
      <p:pic>
        <p:nvPicPr>
          <p:cNvPr id="17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7498081" cy="39776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9B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 0"/>
          <p:cNvSpPr txBox="1"/>
          <p:nvPr/>
        </p:nvSpPr>
        <p:spPr>
          <a:xfrm>
            <a:off x="502919" y="1136226"/>
            <a:ext cx="8138162" cy="324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Углубленные поиск ближайших</a:t>
            </a:r>
          </a:p>
          <a:p>
            <a:pPr algn="ctr">
              <a:defRPr b="1" sz="54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соседей</a:t>
            </a:r>
          </a:p>
        </p:txBody>
      </p:sp>
      <p:sp>
        <p:nvSpPr>
          <p:cNvPr id="182" name="Вернуться в будущем!"/>
          <p:cNvSpPr txBox="1"/>
          <p:nvPr/>
        </p:nvSpPr>
        <p:spPr>
          <a:xfrm>
            <a:off x="4652998" y="4089386"/>
            <a:ext cx="403876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Вернуться в будущем!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8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k-d-деревья: точный поиск</a:t>
            </a:r>
          </a:p>
        </p:txBody>
      </p:sp>
      <p:pic>
        <p:nvPicPr>
          <p:cNvPr id="18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1051560"/>
            <a:ext cx="4663441" cy="3977641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ext 2"/>
          <p:cNvSpPr txBox="1"/>
          <p:nvPr/>
        </p:nvSpPr>
        <p:spPr>
          <a:xfrm>
            <a:off x="6263640" y="1132017"/>
            <a:ext cx="26517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1A1A1A"/>
                </a:solidFill>
              </a:defRPr>
            </a:lvl1pPr>
          </a:lstStyle>
          <a:p>
            <a:pPr/>
            <a:r>
              <a:t>Идея:</a:t>
            </a:r>
          </a:p>
        </p:txBody>
      </p:sp>
      <p:sp>
        <p:nvSpPr>
          <p:cNvPr id="189" name="Text 3"/>
          <p:cNvSpPr txBox="1"/>
          <p:nvPr/>
        </p:nvSpPr>
        <p:spPr>
          <a:xfrm>
            <a:off x="6263640" y="1409508"/>
            <a:ext cx="2651761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1A1A"/>
                </a:solidFill>
              </a:defRPr>
            </a:lvl1pPr>
          </a:lstStyle>
          <a:p>
            <a:pPr/>
            <a:r>
              <a:t>Пространство рекурсивно делится гиперплоскостями, параллельными осям. Ось чередуется на каждой глубине.</a:t>
            </a:r>
          </a:p>
        </p:txBody>
      </p:sp>
      <p:sp>
        <p:nvSpPr>
          <p:cNvPr id="190" name="Text 4"/>
          <p:cNvSpPr txBox="1"/>
          <p:nvPr/>
        </p:nvSpPr>
        <p:spPr>
          <a:xfrm>
            <a:off x="6263640" y="2444182"/>
            <a:ext cx="26517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1A1A1A"/>
                </a:solidFill>
              </a:defRPr>
            </a:lvl1pPr>
          </a:lstStyle>
          <a:p>
            <a:pPr/>
            <a:r>
              <a:t>Сложность:</a:t>
            </a:r>
          </a:p>
        </p:txBody>
      </p:sp>
      <p:sp>
        <p:nvSpPr>
          <p:cNvPr id="191" name="Text 5"/>
          <p:cNvSpPr txBox="1"/>
          <p:nvPr/>
        </p:nvSpPr>
        <p:spPr>
          <a:xfrm>
            <a:off x="6263640" y="2800350"/>
            <a:ext cx="2651761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O(log n) при n &gt;&gt; 2ᵐ</a:t>
            </a:r>
          </a:p>
          <a:p>
            <a:pPr>
              <a:defRPr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O(n·m) при большой размерности</a:t>
            </a:r>
          </a:p>
        </p:txBody>
      </p:sp>
      <p:sp>
        <p:nvSpPr>
          <p:cNvPr id="192" name="Text 6"/>
          <p:cNvSpPr txBox="1"/>
          <p:nvPr/>
        </p:nvSpPr>
        <p:spPr>
          <a:xfrm>
            <a:off x="6263640" y="3587181"/>
            <a:ext cx="26517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1A1A1A"/>
                </a:solidFill>
              </a:defRPr>
            </a:lvl1pPr>
          </a:lstStyle>
          <a:p>
            <a:pPr/>
            <a:r>
              <a:t>Ограничение:</a:t>
            </a:r>
          </a:p>
        </p:txBody>
      </p:sp>
      <p:sp>
        <p:nvSpPr>
          <p:cNvPr id="193" name="Text 7"/>
          <p:cNvSpPr txBox="1"/>
          <p:nvPr/>
        </p:nvSpPr>
        <p:spPr>
          <a:xfrm>
            <a:off x="6263640" y="4021259"/>
            <a:ext cx="2651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При m ≥ 100 деградирует до полного перебора.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9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 1"/>
          <p:cNvSpPr txBox="1"/>
          <p:nvPr/>
        </p:nvSpPr>
        <p:spPr>
          <a:xfrm>
            <a:off x="1417319" y="-13208"/>
            <a:ext cx="7406642" cy="113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Annoy: лес случайных гиперплоскостей</a:t>
            </a:r>
          </a:p>
        </p:txBody>
      </p:sp>
      <p:pic>
        <p:nvPicPr>
          <p:cNvPr id="19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rcRect l="0" t="2016" r="0" b="0"/>
          <a:stretch>
            <a:fillRect/>
          </a:stretch>
        </p:blipFill>
        <p:spPr>
          <a:xfrm>
            <a:off x="1939351" y="1282104"/>
            <a:ext cx="6362301" cy="3002979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Text 2"/>
          <p:cNvSpPr txBox="1"/>
          <p:nvPr/>
        </p:nvSpPr>
        <p:spPr>
          <a:xfrm>
            <a:off x="1417319" y="4263067"/>
            <a:ext cx="7406642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Строится T деревьев: каждое делит пространство случайными гиперплоскостями;</a:t>
            </a:r>
          </a:p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Запрос: определяем ячейку в каждом дереве, объединяем кандидатов и ищем точный минимум;</a:t>
            </a:r>
          </a:p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Применение: Spotify использовал Annoy для музыкальных рекомендаций.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Text 1"/>
          <p:cNvSpPr txBox="1"/>
          <p:nvPr/>
        </p:nvSpPr>
        <p:spPr>
          <a:xfrm>
            <a:off x="1417319" y="50292"/>
            <a:ext cx="7406642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HNSW: иерархический граф близости</a:t>
            </a:r>
          </a:p>
        </p:txBody>
      </p:sp>
      <p:pic>
        <p:nvPicPr>
          <p:cNvPr id="20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98855" y="1231730"/>
            <a:ext cx="4306720" cy="3602737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ext 2"/>
          <p:cNvSpPr txBox="1"/>
          <p:nvPr/>
        </p:nvSpPr>
        <p:spPr>
          <a:xfrm>
            <a:off x="6309360" y="1132017"/>
            <a:ext cx="256032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1A1A1A"/>
                </a:solidFill>
              </a:defRPr>
            </a:lvl1pPr>
          </a:lstStyle>
          <a:p>
            <a:pPr/>
            <a:r>
              <a:t>Принцип:</a:t>
            </a:r>
          </a:p>
        </p:txBody>
      </p:sp>
      <p:sp>
        <p:nvSpPr>
          <p:cNvPr id="206" name="Text 3"/>
          <p:cNvSpPr txBox="1"/>
          <p:nvPr/>
        </p:nvSpPr>
        <p:spPr>
          <a:xfrm>
            <a:off x="6309360" y="1455228"/>
            <a:ext cx="2560321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1A1A1A"/>
                </a:solidFill>
              </a:defRPr>
            </a:lvl1pPr>
          </a:lstStyle>
          <a:p>
            <a:pPr/>
            <a:r>
              <a:t>Верхние слои — разреженная карта, нижний — все точки. Поиск идёт сверху вниз, уточняясь на каждом слое.</a:t>
            </a:r>
          </a:p>
        </p:txBody>
      </p:sp>
      <p:sp>
        <p:nvSpPr>
          <p:cNvPr id="207" name="Text 4"/>
          <p:cNvSpPr txBox="1"/>
          <p:nvPr/>
        </p:nvSpPr>
        <p:spPr>
          <a:xfrm>
            <a:off x="6309360" y="2534220"/>
            <a:ext cx="2560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Плюсы:</a:t>
            </a:r>
          </a:p>
        </p:txBody>
      </p:sp>
      <p:sp>
        <p:nvSpPr>
          <p:cNvPr id="208" name="Text 5"/>
          <p:cNvSpPr txBox="1"/>
          <p:nvPr/>
        </p:nvSpPr>
        <p:spPr>
          <a:xfrm>
            <a:off x="6309360" y="2959031"/>
            <a:ext cx="2560321" cy="537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State-of-the-art точность</a:t>
            </a:r>
          </a:p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Пошаговое добавление</a:t>
            </a:r>
          </a:p>
        </p:txBody>
      </p:sp>
      <p:sp>
        <p:nvSpPr>
          <p:cNvPr id="209" name="Text 6"/>
          <p:cNvSpPr txBox="1"/>
          <p:nvPr/>
        </p:nvSpPr>
        <p:spPr>
          <a:xfrm>
            <a:off x="6309360" y="3658932"/>
            <a:ext cx="2560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A1A1A"/>
                </a:solidFill>
              </a:defRPr>
            </a:lvl1pPr>
          </a:lstStyle>
          <a:p>
            <a:pPr/>
            <a:r>
              <a:t>Минусы:</a:t>
            </a:r>
          </a:p>
        </p:txBody>
      </p:sp>
      <p:sp>
        <p:nvSpPr>
          <p:cNvPr id="210" name="Text 7"/>
          <p:cNvSpPr txBox="1"/>
          <p:nvPr/>
        </p:nvSpPr>
        <p:spPr>
          <a:xfrm>
            <a:off x="6309360" y="4009575"/>
            <a:ext cx="2560321" cy="740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Высокая память</a:t>
            </a:r>
          </a:p>
          <a:p>
            <a:pPr>
              <a:spcBef>
                <a:spcPts val="600"/>
              </a:spcBef>
              <a:defRPr sz="1300">
                <a:solidFill>
                  <a:srgbClr val="1A1A1A"/>
                </a:solidFill>
              </a:defRPr>
            </a:pPr>
            <a:r>
              <a:t>Сложная перестройка при массовых изменениях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1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 1"/>
          <p:cNvSpPr txBox="1"/>
          <p:nvPr/>
        </p:nvSpPr>
        <p:spPr>
          <a:xfrm>
            <a:off x="1417319" y="-13208"/>
            <a:ext cx="7406642" cy="1132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Сравнение методов поиска соседей</a:t>
            </a:r>
          </a:p>
        </p:txBody>
      </p:sp>
      <p:sp>
        <p:nvSpPr>
          <p:cNvPr id="215" name="Shape 2"/>
          <p:cNvSpPr/>
          <p:nvPr/>
        </p:nvSpPr>
        <p:spPr>
          <a:xfrm>
            <a:off x="1371600" y="1051560"/>
            <a:ext cx="1920240" cy="475488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3"/>
          <p:cNvSpPr txBox="1"/>
          <p:nvPr/>
        </p:nvSpPr>
        <p:spPr>
          <a:xfrm>
            <a:off x="1481328" y="1154683"/>
            <a:ext cx="1737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Метод</a:t>
            </a:r>
          </a:p>
        </p:txBody>
      </p:sp>
      <p:sp>
        <p:nvSpPr>
          <p:cNvPr id="217" name="Shape 4"/>
          <p:cNvSpPr/>
          <p:nvPr/>
        </p:nvSpPr>
        <p:spPr>
          <a:xfrm>
            <a:off x="3291840" y="1051560"/>
            <a:ext cx="1572769" cy="475488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5"/>
          <p:cNvSpPr txBox="1"/>
          <p:nvPr/>
        </p:nvSpPr>
        <p:spPr>
          <a:xfrm>
            <a:off x="3401567" y="1154683"/>
            <a:ext cx="138988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Сложность</a:t>
            </a:r>
          </a:p>
        </p:txBody>
      </p:sp>
      <p:sp>
        <p:nvSpPr>
          <p:cNvPr id="219" name="Shape 6"/>
          <p:cNvSpPr/>
          <p:nvPr/>
        </p:nvSpPr>
        <p:spPr>
          <a:xfrm>
            <a:off x="4864608" y="1051560"/>
            <a:ext cx="960121" cy="475488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7"/>
          <p:cNvSpPr txBox="1"/>
          <p:nvPr/>
        </p:nvSpPr>
        <p:spPr>
          <a:xfrm>
            <a:off x="4974335" y="1154683"/>
            <a:ext cx="7772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Память</a:t>
            </a:r>
          </a:p>
        </p:txBody>
      </p:sp>
      <p:sp>
        <p:nvSpPr>
          <p:cNvPr id="221" name="Shape 8"/>
          <p:cNvSpPr/>
          <p:nvPr/>
        </p:nvSpPr>
        <p:spPr>
          <a:xfrm>
            <a:off x="5824728" y="1051560"/>
            <a:ext cx="804673" cy="475488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9"/>
          <p:cNvSpPr txBox="1"/>
          <p:nvPr/>
        </p:nvSpPr>
        <p:spPr>
          <a:xfrm>
            <a:off x="5934455" y="1154683"/>
            <a:ext cx="62179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GPU</a:t>
            </a:r>
          </a:p>
        </p:txBody>
      </p:sp>
      <p:sp>
        <p:nvSpPr>
          <p:cNvPr id="223" name="Shape 10"/>
          <p:cNvSpPr/>
          <p:nvPr/>
        </p:nvSpPr>
        <p:spPr>
          <a:xfrm>
            <a:off x="6629400" y="1051560"/>
            <a:ext cx="1600200" cy="475488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1"/>
          <p:cNvSpPr txBox="1"/>
          <p:nvPr/>
        </p:nvSpPr>
        <p:spPr>
          <a:xfrm>
            <a:off x="6739127" y="1154683"/>
            <a:ext cx="14173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Добавление</a:t>
            </a:r>
          </a:p>
        </p:txBody>
      </p:sp>
      <p:sp>
        <p:nvSpPr>
          <p:cNvPr id="225" name="Shape 12"/>
          <p:cNvSpPr/>
          <p:nvPr/>
        </p:nvSpPr>
        <p:spPr>
          <a:xfrm>
            <a:off x="8229600" y="1051560"/>
            <a:ext cx="914400" cy="475488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13"/>
          <p:cNvSpPr txBox="1"/>
          <p:nvPr/>
        </p:nvSpPr>
        <p:spPr>
          <a:xfrm>
            <a:off x="8253856" y="1154683"/>
            <a:ext cx="9271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Точность</a:t>
            </a:r>
          </a:p>
        </p:txBody>
      </p:sp>
      <p:sp>
        <p:nvSpPr>
          <p:cNvPr id="227" name="Shape 14"/>
          <p:cNvSpPr/>
          <p:nvPr/>
        </p:nvSpPr>
        <p:spPr>
          <a:xfrm>
            <a:off x="1371600" y="1527047"/>
            <a:ext cx="192024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5"/>
          <p:cNvSpPr txBox="1"/>
          <p:nvPr/>
        </p:nvSpPr>
        <p:spPr>
          <a:xfrm>
            <a:off x="1490472" y="1722935"/>
            <a:ext cx="170078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Полный перебор</a:t>
            </a:r>
          </a:p>
        </p:txBody>
      </p:sp>
      <p:sp>
        <p:nvSpPr>
          <p:cNvPr id="229" name="Shape 16"/>
          <p:cNvSpPr/>
          <p:nvPr/>
        </p:nvSpPr>
        <p:spPr>
          <a:xfrm>
            <a:off x="3291840" y="1527047"/>
            <a:ext cx="1572769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17"/>
          <p:cNvSpPr txBox="1"/>
          <p:nvPr/>
        </p:nvSpPr>
        <p:spPr>
          <a:xfrm>
            <a:off x="3410711" y="1712467"/>
            <a:ext cx="135331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O(n·m)</a:t>
            </a:r>
          </a:p>
        </p:txBody>
      </p:sp>
      <p:sp>
        <p:nvSpPr>
          <p:cNvPr id="231" name="Shape 18"/>
          <p:cNvSpPr/>
          <p:nvPr/>
        </p:nvSpPr>
        <p:spPr>
          <a:xfrm>
            <a:off x="4864608" y="1527047"/>
            <a:ext cx="960121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19"/>
          <p:cNvSpPr txBox="1"/>
          <p:nvPr/>
        </p:nvSpPr>
        <p:spPr>
          <a:xfrm>
            <a:off x="4983479" y="1712467"/>
            <a:ext cx="74066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O(n·m)</a:t>
            </a:r>
          </a:p>
        </p:txBody>
      </p:sp>
      <p:sp>
        <p:nvSpPr>
          <p:cNvPr id="233" name="Shape 20"/>
          <p:cNvSpPr/>
          <p:nvPr/>
        </p:nvSpPr>
        <p:spPr>
          <a:xfrm>
            <a:off x="5824728" y="1527047"/>
            <a:ext cx="804673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21"/>
          <p:cNvSpPr txBox="1"/>
          <p:nvPr/>
        </p:nvSpPr>
        <p:spPr>
          <a:xfrm>
            <a:off x="5943599" y="1722935"/>
            <a:ext cx="58521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235" name="Shape 22"/>
          <p:cNvSpPr/>
          <p:nvPr/>
        </p:nvSpPr>
        <p:spPr>
          <a:xfrm>
            <a:off x="6629400" y="1527047"/>
            <a:ext cx="160020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23"/>
          <p:cNvSpPr txBox="1"/>
          <p:nvPr/>
        </p:nvSpPr>
        <p:spPr>
          <a:xfrm>
            <a:off x="6748272" y="1722935"/>
            <a:ext cx="13807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Сразу</a:t>
            </a:r>
          </a:p>
        </p:txBody>
      </p:sp>
      <p:sp>
        <p:nvSpPr>
          <p:cNvPr id="237" name="Shape 24"/>
          <p:cNvSpPr/>
          <p:nvPr/>
        </p:nvSpPr>
        <p:spPr>
          <a:xfrm>
            <a:off x="8229600" y="1527047"/>
            <a:ext cx="91440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25"/>
          <p:cNvSpPr txBox="1"/>
          <p:nvPr/>
        </p:nvSpPr>
        <p:spPr>
          <a:xfrm>
            <a:off x="8348472" y="1722935"/>
            <a:ext cx="6949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239" name="Shape 26"/>
          <p:cNvSpPr/>
          <p:nvPr/>
        </p:nvSpPr>
        <p:spPr>
          <a:xfrm>
            <a:off x="1371600" y="2185416"/>
            <a:ext cx="1920240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27"/>
          <p:cNvSpPr txBox="1"/>
          <p:nvPr/>
        </p:nvSpPr>
        <p:spPr>
          <a:xfrm>
            <a:off x="1490472" y="2381303"/>
            <a:ext cx="170078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k-d-дерево</a:t>
            </a:r>
          </a:p>
        </p:txBody>
      </p:sp>
      <p:sp>
        <p:nvSpPr>
          <p:cNvPr id="241" name="Shape 28"/>
          <p:cNvSpPr/>
          <p:nvPr/>
        </p:nvSpPr>
        <p:spPr>
          <a:xfrm>
            <a:off x="3291840" y="2185416"/>
            <a:ext cx="1572769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29"/>
          <p:cNvSpPr txBox="1"/>
          <p:nvPr/>
        </p:nvSpPr>
        <p:spPr>
          <a:xfrm>
            <a:off x="3410711" y="2370836"/>
            <a:ext cx="135331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O(log n)*</a:t>
            </a:r>
          </a:p>
        </p:txBody>
      </p:sp>
      <p:sp>
        <p:nvSpPr>
          <p:cNvPr id="243" name="Shape 30"/>
          <p:cNvSpPr/>
          <p:nvPr/>
        </p:nvSpPr>
        <p:spPr>
          <a:xfrm>
            <a:off x="4864608" y="2185416"/>
            <a:ext cx="960121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31"/>
          <p:cNvSpPr txBox="1"/>
          <p:nvPr/>
        </p:nvSpPr>
        <p:spPr>
          <a:xfrm>
            <a:off x="4983479" y="2370836"/>
            <a:ext cx="74066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O(n·m)</a:t>
            </a:r>
          </a:p>
        </p:txBody>
      </p:sp>
      <p:sp>
        <p:nvSpPr>
          <p:cNvPr id="245" name="Shape 32"/>
          <p:cNvSpPr/>
          <p:nvPr/>
        </p:nvSpPr>
        <p:spPr>
          <a:xfrm>
            <a:off x="5824728" y="2185416"/>
            <a:ext cx="804673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33"/>
          <p:cNvSpPr txBox="1"/>
          <p:nvPr/>
        </p:nvSpPr>
        <p:spPr>
          <a:xfrm>
            <a:off x="5943599" y="2381303"/>
            <a:ext cx="58521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Нет</a:t>
            </a:r>
          </a:p>
        </p:txBody>
      </p:sp>
      <p:sp>
        <p:nvSpPr>
          <p:cNvPr id="247" name="Shape 34"/>
          <p:cNvSpPr/>
          <p:nvPr/>
        </p:nvSpPr>
        <p:spPr>
          <a:xfrm>
            <a:off x="6629400" y="2185416"/>
            <a:ext cx="1600200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35"/>
          <p:cNvSpPr txBox="1"/>
          <p:nvPr/>
        </p:nvSpPr>
        <p:spPr>
          <a:xfrm>
            <a:off x="6748272" y="2381303"/>
            <a:ext cx="13807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249" name="Shape 36"/>
          <p:cNvSpPr/>
          <p:nvPr/>
        </p:nvSpPr>
        <p:spPr>
          <a:xfrm>
            <a:off x="8229600" y="2185416"/>
            <a:ext cx="914400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37"/>
          <p:cNvSpPr txBox="1"/>
          <p:nvPr/>
        </p:nvSpPr>
        <p:spPr>
          <a:xfrm>
            <a:off x="8348472" y="2381303"/>
            <a:ext cx="6949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251" name="Shape 38"/>
          <p:cNvSpPr/>
          <p:nvPr/>
        </p:nvSpPr>
        <p:spPr>
          <a:xfrm>
            <a:off x="1371600" y="2843783"/>
            <a:ext cx="192024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39"/>
          <p:cNvSpPr txBox="1"/>
          <p:nvPr/>
        </p:nvSpPr>
        <p:spPr>
          <a:xfrm>
            <a:off x="1490472" y="3039671"/>
            <a:ext cx="170078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Annoy</a:t>
            </a:r>
          </a:p>
        </p:txBody>
      </p:sp>
      <p:sp>
        <p:nvSpPr>
          <p:cNvPr id="253" name="Shape 40"/>
          <p:cNvSpPr/>
          <p:nvPr/>
        </p:nvSpPr>
        <p:spPr>
          <a:xfrm>
            <a:off x="3291840" y="2843783"/>
            <a:ext cx="1572769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41"/>
          <p:cNvSpPr txBox="1"/>
          <p:nvPr/>
        </p:nvSpPr>
        <p:spPr>
          <a:xfrm>
            <a:off x="3410711" y="3029203"/>
            <a:ext cx="135331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O(log n)</a:t>
            </a:r>
          </a:p>
        </p:txBody>
      </p:sp>
      <p:sp>
        <p:nvSpPr>
          <p:cNvPr id="255" name="Shape 42"/>
          <p:cNvSpPr/>
          <p:nvPr/>
        </p:nvSpPr>
        <p:spPr>
          <a:xfrm>
            <a:off x="4864608" y="2843783"/>
            <a:ext cx="960121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43"/>
          <p:cNvSpPr txBox="1"/>
          <p:nvPr/>
        </p:nvSpPr>
        <p:spPr>
          <a:xfrm>
            <a:off x="4983479" y="3029203"/>
            <a:ext cx="74066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O(n)</a:t>
            </a:r>
          </a:p>
        </p:txBody>
      </p:sp>
      <p:sp>
        <p:nvSpPr>
          <p:cNvPr id="257" name="Shape 44"/>
          <p:cNvSpPr/>
          <p:nvPr/>
        </p:nvSpPr>
        <p:spPr>
          <a:xfrm>
            <a:off x="5824728" y="2843783"/>
            <a:ext cx="804673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45"/>
          <p:cNvSpPr txBox="1"/>
          <p:nvPr/>
        </p:nvSpPr>
        <p:spPr>
          <a:xfrm>
            <a:off x="5943599" y="3039671"/>
            <a:ext cx="58521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Нет</a:t>
            </a:r>
          </a:p>
        </p:txBody>
      </p:sp>
      <p:sp>
        <p:nvSpPr>
          <p:cNvPr id="259" name="Shape 46"/>
          <p:cNvSpPr/>
          <p:nvPr/>
        </p:nvSpPr>
        <p:spPr>
          <a:xfrm>
            <a:off x="6629400" y="2843783"/>
            <a:ext cx="160020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47"/>
          <p:cNvSpPr txBox="1"/>
          <p:nvPr/>
        </p:nvSpPr>
        <p:spPr>
          <a:xfrm>
            <a:off x="6748272" y="3039671"/>
            <a:ext cx="13807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Перестройка</a:t>
            </a:r>
          </a:p>
        </p:txBody>
      </p:sp>
      <p:sp>
        <p:nvSpPr>
          <p:cNvPr id="261" name="Shape 48"/>
          <p:cNvSpPr/>
          <p:nvPr/>
        </p:nvSpPr>
        <p:spPr>
          <a:xfrm>
            <a:off x="8229600" y="2843783"/>
            <a:ext cx="91440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49"/>
          <p:cNvSpPr txBox="1"/>
          <p:nvPr/>
        </p:nvSpPr>
        <p:spPr>
          <a:xfrm>
            <a:off x="8348472" y="3039671"/>
            <a:ext cx="6949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~95%</a:t>
            </a:r>
          </a:p>
        </p:txBody>
      </p:sp>
      <p:sp>
        <p:nvSpPr>
          <p:cNvPr id="263" name="Shape 50"/>
          <p:cNvSpPr/>
          <p:nvPr/>
        </p:nvSpPr>
        <p:spPr>
          <a:xfrm>
            <a:off x="1371600" y="3502152"/>
            <a:ext cx="1920240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51"/>
          <p:cNvSpPr txBox="1"/>
          <p:nvPr/>
        </p:nvSpPr>
        <p:spPr>
          <a:xfrm>
            <a:off x="1490472" y="3698039"/>
            <a:ext cx="170078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LSH / FAISS</a:t>
            </a:r>
          </a:p>
        </p:txBody>
      </p:sp>
      <p:sp>
        <p:nvSpPr>
          <p:cNvPr id="265" name="Shape 52"/>
          <p:cNvSpPr/>
          <p:nvPr/>
        </p:nvSpPr>
        <p:spPr>
          <a:xfrm>
            <a:off x="3291840" y="3502152"/>
            <a:ext cx="1572769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53"/>
          <p:cNvSpPr txBox="1"/>
          <p:nvPr/>
        </p:nvSpPr>
        <p:spPr>
          <a:xfrm>
            <a:off x="3410711" y="3687572"/>
            <a:ext cx="135331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сублин.</a:t>
            </a:r>
          </a:p>
        </p:txBody>
      </p:sp>
      <p:sp>
        <p:nvSpPr>
          <p:cNvPr id="267" name="Shape 54"/>
          <p:cNvSpPr/>
          <p:nvPr/>
        </p:nvSpPr>
        <p:spPr>
          <a:xfrm>
            <a:off x="4864608" y="3502152"/>
            <a:ext cx="960121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55"/>
          <p:cNvSpPr txBox="1"/>
          <p:nvPr/>
        </p:nvSpPr>
        <p:spPr>
          <a:xfrm>
            <a:off x="4983479" y="3687572"/>
            <a:ext cx="74066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высок.</a:t>
            </a:r>
          </a:p>
        </p:txBody>
      </p:sp>
      <p:sp>
        <p:nvSpPr>
          <p:cNvPr id="269" name="Shape 56"/>
          <p:cNvSpPr/>
          <p:nvPr/>
        </p:nvSpPr>
        <p:spPr>
          <a:xfrm>
            <a:off x="5824728" y="3502152"/>
            <a:ext cx="804673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57"/>
          <p:cNvSpPr txBox="1"/>
          <p:nvPr/>
        </p:nvSpPr>
        <p:spPr>
          <a:xfrm>
            <a:off x="5943599" y="3698039"/>
            <a:ext cx="58521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Нет</a:t>
            </a:r>
          </a:p>
        </p:txBody>
      </p:sp>
      <p:sp>
        <p:nvSpPr>
          <p:cNvPr id="271" name="Shape 58"/>
          <p:cNvSpPr/>
          <p:nvPr/>
        </p:nvSpPr>
        <p:spPr>
          <a:xfrm>
            <a:off x="6629400" y="3502152"/>
            <a:ext cx="1600200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59"/>
          <p:cNvSpPr txBox="1"/>
          <p:nvPr/>
        </p:nvSpPr>
        <p:spPr>
          <a:xfrm>
            <a:off x="6748272" y="3698039"/>
            <a:ext cx="13807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Сложно</a:t>
            </a:r>
          </a:p>
        </p:txBody>
      </p:sp>
      <p:sp>
        <p:nvSpPr>
          <p:cNvPr id="273" name="Shape 60"/>
          <p:cNvSpPr/>
          <p:nvPr/>
        </p:nvSpPr>
        <p:spPr>
          <a:xfrm>
            <a:off x="8229600" y="3502152"/>
            <a:ext cx="914400" cy="640081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61"/>
          <p:cNvSpPr txBox="1"/>
          <p:nvPr/>
        </p:nvSpPr>
        <p:spPr>
          <a:xfrm>
            <a:off x="8348472" y="3698039"/>
            <a:ext cx="6949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~90%</a:t>
            </a:r>
          </a:p>
        </p:txBody>
      </p:sp>
      <p:sp>
        <p:nvSpPr>
          <p:cNvPr id="275" name="Shape 62"/>
          <p:cNvSpPr/>
          <p:nvPr/>
        </p:nvSpPr>
        <p:spPr>
          <a:xfrm>
            <a:off x="1371600" y="4160520"/>
            <a:ext cx="192024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63"/>
          <p:cNvSpPr txBox="1"/>
          <p:nvPr/>
        </p:nvSpPr>
        <p:spPr>
          <a:xfrm>
            <a:off x="1490472" y="4356407"/>
            <a:ext cx="170078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HNSW</a:t>
            </a:r>
          </a:p>
        </p:txBody>
      </p:sp>
      <p:sp>
        <p:nvSpPr>
          <p:cNvPr id="277" name="Shape 64"/>
          <p:cNvSpPr/>
          <p:nvPr/>
        </p:nvSpPr>
        <p:spPr>
          <a:xfrm>
            <a:off x="3291840" y="4160520"/>
            <a:ext cx="1572769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65"/>
          <p:cNvSpPr txBox="1"/>
          <p:nvPr/>
        </p:nvSpPr>
        <p:spPr>
          <a:xfrm>
            <a:off x="3410711" y="4345940"/>
            <a:ext cx="135331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O(log n)</a:t>
            </a:r>
          </a:p>
        </p:txBody>
      </p:sp>
      <p:sp>
        <p:nvSpPr>
          <p:cNvPr id="279" name="Shape 66"/>
          <p:cNvSpPr/>
          <p:nvPr/>
        </p:nvSpPr>
        <p:spPr>
          <a:xfrm>
            <a:off x="4864608" y="4160520"/>
            <a:ext cx="960121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67"/>
          <p:cNvSpPr txBox="1"/>
          <p:nvPr/>
        </p:nvSpPr>
        <p:spPr>
          <a:xfrm>
            <a:off x="4983479" y="4345940"/>
            <a:ext cx="74066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высок.</a:t>
            </a:r>
          </a:p>
        </p:txBody>
      </p:sp>
      <p:sp>
        <p:nvSpPr>
          <p:cNvPr id="281" name="Shape 68"/>
          <p:cNvSpPr/>
          <p:nvPr/>
        </p:nvSpPr>
        <p:spPr>
          <a:xfrm>
            <a:off x="5824728" y="4160520"/>
            <a:ext cx="804673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69"/>
          <p:cNvSpPr txBox="1"/>
          <p:nvPr/>
        </p:nvSpPr>
        <p:spPr>
          <a:xfrm>
            <a:off x="5943599" y="4356407"/>
            <a:ext cx="58521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±</a:t>
            </a:r>
          </a:p>
        </p:txBody>
      </p:sp>
      <p:sp>
        <p:nvSpPr>
          <p:cNvPr id="283" name="Shape 70"/>
          <p:cNvSpPr/>
          <p:nvPr/>
        </p:nvSpPr>
        <p:spPr>
          <a:xfrm>
            <a:off x="6629400" y="4160520"/>
            <a:ext cx="160020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71"/>
          <p:cNvSpPr txBox="1"/>
          <p:nvPr/>
        </p:nvSpPr>
        <p:spPr>
          <a:xfrm>
            <a:off x="6748272" y="4356407"/>
            <a:ext cx="13807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Пошагово</a:t>
            </a:r>
          </a:p>
        </p:txBody>
      </p:sp>
      <p:sp>
        <p:nvSpPr>
          <p:cNvPr id="285" name="Shape 72"/>
          <p:cNvSpPr/>
          <p:nvPr/>
        </p:nvSpPr>
        <p:spPr>
          <a:xfrm>
            <a:off x="8229600" y="4160520"/>
            <a:ext cx="914400" cy="640081"/>
          </a:xfrm>
          <a:prstGeom prst="rect">
            <a:avLst/>
          </a:prstGeom>
          <a:solidFill>
            <a:srgbClr val="FAF8F2"/>
          </a:solidFill>
          <a:ln w="6350">
            <a:solidFill>
              <a:srgbClr val="DDDDD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73"/>
          <p:cNvSpPr txBox="1"/>
          <p:nvPr/>
        </p:nvSpPr>
        <p:spPr>
          <a:xfrm>
            <a:off x="8348472" y="4356407"/>
            <a:ext cx="694945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~99%</a:t>
            </a:r>
          </a:p>
        </p:txBody>
      </p:sp>
      <p:sp>
        <p:nvSpPr>
          <p:cNvPr id="287" name="Text 74"/>
          <p:cNvSpPr txBox="1"/>
          <p:nvPr/>
        </p:nvSpPr>
        <p:spPr>
          <a:xfrm>
            <a:off x="1417319" y="4841792"/>
            <a:ext cx="74066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* O(log n) только при m &lt;&lt; 2^(log 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9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Плюсы и минусы kNN</a:t>
            </a:r>
          </a:p>
        </p:txBody>
      </p:sp>
      <p:sp>
        <p:nvSpPr>
          <p:cNvPr id="292" name="Text 2"/>
          <p:cNvSpPr txBox="1"/>
          <p:nvPr/>
        </p:nvSpPr>
        <p:spPr>
          <a:xfrm>
            <a:off x="1417319" y="1134435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A1A1A"/>
                </a:solidFill>
              </a:defRPr>
            </a:lvl1pPr>
          </a:lstStyle>
          <a:p>
            <a:pPr/>
            <a:r>
              <a:t>Плюсы:</a:t>
            </a:r>
          </a:p>
        </p:txBody>
      </p:sp>
      <p:sp>
        <p:nvSpPr>
          <p:cNvPr id="293" name="Text 3"/>
          <p:cNvSpPr txBox="1"/>
          <p:nvPr/>
        </p:nvSpPr>
        <p:spPr>
          <a:xfrm>
            <a:off x="1417319" y="1484102"/>
            <a:ext cx="7406642" cy="1214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непараметрический, то есть не делает явных предположений о распределении данных;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</a:t>
            </a:r>
            <a:r>
              <a:t>легко интерпретируемый;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</a:t>
            </a:r>
            <a:r>
              <a:t>достаточно точный, хотя чаще всего и уступает ансамблевым методам.</a:t>
            </a:r>
          </a:p>
        </p:txBody>
      </p:sp>
      <p:sp>
        <p:nvSpPr>
          <p:cNvPr id="294" name="Text 4"/>
          <p:cNvSpPr txBox="1"/>
          <p:nvPr/>
        </p:nvSpPr>
        <p:spPr>
          <a:xfrm>
            <a:off x="1417319" y="3029275"/>
            <a:ext cx="74066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A1A1A"/>
                </a:solidFill>
              </a:defRPr>
            </a:lvl1pPr>
          </a:lstStyle>
          <a:p>
            <a:pPr/>
            <a:r>
              <a:t>Минусы:</a:t>
            </a:r>
          </a:p>
        </p:txBody>
      </p:sp>
      <p:sp>
        <p:nvSpPr>
          <p:cNvPr id="295" name="Text 5"/>
          <p:cNvSpPr txBox="1"/>
          <p:nvPr/>
        </p:nvSpPr>
        <p:spPr>
          <a:xfrm>
            <a:off x="1417319" y="3323915"/>
            <a:ext cx="7406642" cy="1468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неэффективный по памяти, поскольку нужно хранить всю обучающую выборку, следовательно, вычислительно дорогой;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</a:t>
            </a:r>
            <a:r>
              <a:t>чувствителен к масштабу данных и неинформативным признакам;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- </a:t>
            </a:r>
            <a:r>
              <a:t>из-за отсутствия фазы обучения в настоящее время этот алгоритм почти не применяется.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1188720" cy="5143500"/>
          </a:xfrm>
          <a:prstGeom prst="rect">
            <a:avLst/>
          </a:prstGeom>
          <a:solidFill>
            <a:srgbClr val="F9B928"/>
          </a:solidFill>
          <a:ln w="12700">
            <a:solidFill>
              <a:srgbClr val="F9B928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9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" y="18288"/>
            <a:ext cx="1152145" cy="1033273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ext 1"/>
          <p:cNvSpPr txBox="1"/>
          <p:nvPr/>
        </p:nvSpPr>
        <p:spPr>
          <a:xfrm>
            <a:off x="1417319" y="247142"/>
            <a:ext cx="740664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6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Применение метода</a:t>
            </a:r>
          </a:p>
        </p:txBody>
      </p:sp>
      <p:sp>
        <p:nvSpPr>
          <p:cNvPr id="300" name="Text 2"/>
          <p:cNvSpPr txBox="1"/>
          <p:nvPr/>
        </p:nvSpPr>
        <p:spPr>
          <a:xfrm>
            <a:off x="1417319" y="1053154"/>
            <a:ext cx="7406642" cy="55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1A1A1A"/>
                </a:solidFill>
              </a:defRPr>
            </a:lvl1pPr>
          </a:lstStyle>
          <a:p>
            <a:pPr/>
            <a:r>
              <a:t>Несмотря на все минусы, у данного метода есть немало применений в прикладных задачах:</a:t>
            </a:r>
          </a:p>
        </p:txBody>
      </p:sp>
      <p:sp>
        <p:nvSpPr>
          <p:cNvPr id="301" name="Text 3"/>
          <p:cNvSpPr txBox="1"/>
          <p:nvPr/>
        </p:nvSpPr>
        <p:spPr>
          <a:xfrm>
            <a:off x="1417319" y="2546289"/>
            <a:ext cx="7406642" cy="1801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spcBef>
                <a:spcPts val="600"/>
              </a:spcBef>
              <a:defRPr b="1" sz="1500">
                <a:solidFill>
                  <a:srgbClr val="1A1A1A"/>
                </a:solidFill>
              </a:defRPr>
            </a:pPr>
            <a:r>
              <a:t>Рекомендательные системы. 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</a:defRPr>
            </a:pPr>
            <a:r>
              <a:t>- </a:t>
            </a:r>
            <a:r>
              <a:t>Поиск семантически похожих документов. 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</a:defRPr>
            </a:pPr>
            <a:r>
              <a:t>- </a:t>
            </a:r>
            <a:r>
              <a:t>Поиск аномалий и выбросов. 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</a:defRPr>
            </a:pPr>
            <a:r>
              <a:t>- </a:t>
            </a:r>
            <a:r>
              <a:t>Задача кредитного скоринга. 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</a:defRPr>
            </a:pPr>
            <a:r>
              <a:t>- </a:t>
            </a:r>
            <a:r>
              <a:t>Поиск похожих изображений. </a:t>
            </a:r>
          </a:p>
          <a:p>
            <a:pPr>
              <a:spcBef>
                <a:spcPts val="600"/>
              </a:spcBef>
              <a:defRPr sz="1500">
                <a:solidFill>
                  <a:srgbClr val="1A1A1A"/>
                </a:solidFill>
              </a:defRPr>
            </a:pPr>
            <a:r>
              <a:t>- </a:t>
            </a:r>
            <a:r>
              <a:t>Биоинформатика — классификация генов и структур белков.</a:t>
            </a:r>
          </a:p>
        </p:txBody>
      </p:sp>
      <p:sp>
        <p:nvSpPr>
          <p:cNvPr id="302" name="Text 4"/>
          <p:cNvSpPr txBox="1"/>
          <p:nvPr/>
        </p:nvSpPr>
        <p:spPr>
          <a:xfrm>
            <a:off x="1417319" y="4933232"/>
            <a:ext cx="74066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https://education.yandex.ru/handbook/ml/article/metricheskiye-metody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